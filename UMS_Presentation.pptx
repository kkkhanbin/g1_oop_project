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21792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675120" y="-1828800"/>
            <a:ext cx="5852160" cy="5852160"/>
          </a:xfrm>
          <a:prstGeom prst="ellipse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1371600"/>
            <a:ext cx="3657600" cy="36576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19" y="3108960"/>
            <a:ext cx="2560320" cy="2560320"/>
          </a:xfrm>
          <a:prstGeom prst="ellipse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0" y="36576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0" y="36576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0" y="36576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75520" y="36576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881360" y="36576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0" y="118872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63840" y="118872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869680" y="118872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75520" y="118872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81360" y="118872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0" y="201168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863840" y="201168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69680" y="201168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875520" y="201168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81360" y="201168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0" y="283464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63840" y="283464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869680" y="283464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75520" y="283464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283464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0" y="365760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63840" y="365760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869680" y="365760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75520" y="365760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881360" y="365760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58000" y="448056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63840" y="448056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869680" y="448056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75520" y="448056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881360" y="448056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858000" y="530352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63840" y="530352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869680" y="530352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875520" y="530352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881360" y="530352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58000" y="612648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863840" y="612648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869680" y="612648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875520" y="612648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81360" y="6126480"/>
            <a:ext cx="54864" cy="54864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  <a:latin typeface="Consolas"/>
              </a:rPr>
              <a:t>OOP GROUP G1  ·  JAVA SE 21  · 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10058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2E8F0"/>
                </a:solidFill>
                <a:latin typeface="Calibri"/>
              </a:rPr>
              <a:t>University</a:t>
            </a:r>
          </a:p>
          <a:p>
            <a:pPr algn="l"/>
            <a:r>
              <a:rPr sz="5200" b="1" i="0">
                <a:solidFill>
                  <a:srgbClr val="38BDF8"/>
                </a:solidFill>
                <a:latin typeface="Calibri"/>
              </a:rPr>
              <a:t>Management</a:t>
            </a:r>
          </a:p>
          <a:p>
            <a:pPr algn="l"/>
            <a:r>
              <a:rPr sz="5200" b="1" i="0">
                <a:solidFill>
                  <a:srgbClr val="818CF8"/>
                </a:solidFill>
                <a:latin typeface="Calibri"/>
              </a:rPr>
              <a:t>System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931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Console-based Research-Oriented University
Information System built with Java OOP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75120" y="2286000"/>
            <a:ext cx="2194560" cy="11887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675120" y="2286000"/>
            <a:ext cx="219456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12280" y="235915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BDF8"/>
                </a:solidFill>
                <a:latin typeface="Consolas"/>
              </a:rPr>
              <a:t>38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12280" y="29992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Java Files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35440" y="2286000"/>
            <a:ext cx="2194560" cy="11887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235440" y="2286000"/>
            <a:ext cx="219456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72600" y="235915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BDF8"/>
                </a:solidFill>
                <a:latin typeface="Consolas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72600" y="29992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Patterns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75120" y="3749039"/>
            <a:ext cx="2194560" cy="11887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675120" y="3749039"/>
            <a:ext cx="219456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12280" y="3822191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BDF8"/>
                </a:solidFill>
                <a:latin typeface="Consolas"/>
              </a:rPr>
              <a:t>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12280" y="44622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Classes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35440" y="3749039"/>
            <a:ext cx="2194560" cy="11887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235440" y="3749039"/>
            <a:ext cx="219456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372600" y="3822191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8BDF8"/>
                </a:solidFill>
                <a:latin typeface="Consolas"/>
              </a:rPr>
              <a:t>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72600" y="44622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Enums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onsolas"/>
              </a:rPr>
              <a:t>G1_OOP_Project  ·  github.com/kkkhanbin/G1_OOP_Project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3A5F"/>
                </a:solidFill>
                <a:latin typeface="Consola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E8F0"/>
                </a:solidFill>
                <a:latin typeface="Calibri"/>
              </a:rPr>
              <a:t>Architecture &amp; Design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Class hierarchy · OOP principles · 4 patterns implemented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394960" cy="53035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  <a:latin typeface="Consolas"/>
              </a:rPr>
              <a:t>CLASS HIERARCHY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916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18CF8"/>
                </a:solidFill>
                <a:latin typeface="Consolas"/>
              </a:rPr>
              <a:t>«abstract»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9476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onsolas"/>
              </a:rPr>
              <a:t>  implements Serializable, Comparable&lt;User&gt;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0370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onsolas"/>
              </a:rPr>
              <a:t>  ├── Employee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45973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onsolas"/>
              </a:rPr>
              <a:t>  │     ├──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7157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onsolas"/>
              </a:rPr>
              <a:t>  │     ├── 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9718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8BDF8"/>
                </a:solidFill>
                <a:latin typeface="Consolas"/>
              </a:rPr>
              <a:t>  │     ├── Teacher  implements Researcher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2278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923C"/>
                </a:solidFill>
                <a:latin typeface="Consolas"/>
              </a:rPr>
              <a:t>  │     └── ResearcherEmployee  ★ NEW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48386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onsolas"/>
              </a:rPr>
              <a:t>  └── Student  implements Researcher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73989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94A3B8"/>
                </a:solidFill>
                <a:latin typeface="Consola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99592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onsolas"/>
              </a:rPr>
              <a:t>«interface» Researcher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2519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onsolas"/>
              </a:rPr>
              <a:t>  getHIndex() · setHIndex()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50799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onsolas"/>
              </a:rPr>
              <a:t>  addResearchPaper(ResearchPaper 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76402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B923C"/>
                </a:solidFill>
                <a:latin typeface="Consolas"/>
              </a:rPr>
              <a:t>  printPapers(Comparator c)  ← 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94A3B8"/>
                </a:solidFill>
                <a:latin typeface="Consola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2760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18CF8"/>
                </a:solidFill>
                <a:latin typeface="Consolas"/>
              </a:rPr>
              <a:t>«interface» Observer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5321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onsolas"/>
              </a:rPr>
              <a:t>  └── NewsSubscriber  update(News)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234440"/>
            <a:ext cx="2697480" cy="2286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1234440"/>
            <a:ext cx="269748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1325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onsolas"/>
              </a:rPr>
              <a:t>◈ SINGLETON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169164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DataStore — one instance
Global data access point
Save/load via serialization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0175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Consolas"/>
              </a:rPr>
              <a:t>DataStore · getInstance()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81160" y="1234440"/>
            <a:ext cx="2697480" cy="2286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81160" y="1234440"/>
            <a:ext cx="2697480" cy="3657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0" y="1325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18CF8"/>
                </a:solidFill>
                <a:latin typeface="Consolas"/>
              </a:rPr>
              <a:t>◇ FACTORY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169164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UserFactory — hides constructors
Creates Student/Teacher/
Manager/Admin by type string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30175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Consolas"/>
              </a:rPr>
              <a:t>UserFactory · createUser()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703320"/>
            <a:ext cx="2697480" cy="2286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3703320"/>
            <a:ext cx="269748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379475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onsolas"/>
              </a:rPr>
              <a:t>◉ OBSERVER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416052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News = Subject
NewsSubscriber = Observer
notifyObservers() on publish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54864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Consolas"/>
              </a:rPr>
              <a:t>News · NewsSubscriber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81160" y="3703320"/>
            <a:ext cx="2697480" cy="2286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81160" y="3703320"/>
            <a:ext cx="2697480" cy="36576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18320" y="379475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923C"/>
                </a:solidFill>
                <a:latin typeface="Consolas"/>
              </a:rPr>
              <a:t>◫ STRATEGY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416052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printPapers(Comparator c)
Swap sort algorithm at runtime
3 paper + 2 user comparators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54864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Consolas"/>
              </a:rPr>
              <a:t>5 Comparator classes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52881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Inheritance · Polymorphism · Encapsulation · Abstraction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274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3A5F"/>
                </a:solidFill>
                <a:latin typeface="Consola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E8F0"/>
                </a:solidFill>
                <a:latin typeface="Calibri"/>
              </a:rPr>
              <a:t>What Works — Full Feature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All core requirements verified via console 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70432"/>
            <a:ext cx="3794760" cy="55778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170432"/>
            <a:ext cx="37947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34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alibri"/>
              </a:rPr>
              <a:t>🎓  ACADEMIC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916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✓  Course registration with 21-credit limit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95681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✓  Fail limit enforced (max 3 failures)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2199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✓  Course filter by major &amp;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48716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✓  Multiple instructors per course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5234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✓  Mark: att1 + att2 + final exam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0175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✓  Letter grades  A → 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28269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✓  GPA via Transcript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54787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✓  Report: avg / passed / failed / high / 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81304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✓  Student views own marks &amp; courses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07822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✓  Teacher grades students directly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3434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✓  Teacher views students with marks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60857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✓  Student rates teacher (1-5)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1170432"/>
            <a:ext cx="3794760" cy="55778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06240" y="1170432"/>
            <a:ext cx="3794760" cy="3657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1234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18CF8"/>
                </a:solidFill>
                <a:latin typeface="Calibri"/>
              </a:rPr>
              <a:t>🔬  RESEARCH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16916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✓  Researcher interface (Student, Teacher,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195681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    ResearcherEmployee)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222199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✓  PROFESSOR always activeResearcher=true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248716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✓  Non-professors opt-in via becomeResearcher()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275234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✓  ResearchPaper: title, authors, citations,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30175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    journal, pages, date, doi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328269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✓  printPapers(Comparator) — Strategy pattern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354787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✓  Sort by citations / date / pages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381304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✓  printAllPapers across all researchers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407822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✓  Top cited: overall / by school / by year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43434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✓  4th year supervisor: h-index ≥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460857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✓  InvalidSupervisorException thrown correctly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487375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✓  NonResearcherJoinException on joinProject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1170432"/>
            <a:ext cx="3794760" cy="55778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38160" y="1170432"/>
            <a:ext cx="379476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5320" y="1234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Calibri"/>
              </a:rPr>
              <a:t>⚙️  SYSTEM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16916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✓  Admin: add / remove / updateUser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195681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✓  Admin: findUserById / findByUsername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222199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✓  Admin: sorted by GPA / by name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248716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✓  Manager: approve / reject requests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275234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✓  Manager: assign teachers to courses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30175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✓  Manager: publish news (Observer pattern)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20" y="328269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✓  Student &amp; Employee send messages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354787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✓  Student submits requests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381304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✓  DataStore Singleton serialization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20" y="407822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✓  Save to data.ser / Load from data.ser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20" y="43434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✓  Login via AuthService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20" y="460857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✓  UserFactory creates all 4 user types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5320" y="487375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✓  5 enums, 2 custom exceptions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652881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All features verified · zero compilation errors · serialization working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2743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3A5F"/>
                </a:solidFill>
                <a:latin typeface="Consola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2E8F0"/>
                </a:solidFill>
                <a:latin typeface="Calibri"/>
              </a:rPr>
              <a:t>Demo Output &amp; Project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Console results · key outputs verified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88720"/>
            <a:ext cx="6858000" cy="53492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188720"/>
            <a:ext cx="6858000" cy="36576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5760" y="1252728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6928" y="1252728"/>
            <a:ext cx="109728" cy="109728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1252728"/>
            <a:ext cx="109728" cy="109728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21615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  <a:latin typeface="Consolas"/>
              </a:rPr>
              <a:t>java Main  — console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572768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B923C"/>
                </a:solidFill>
                <a:latin typeface="Consolas"/>
              </a:rPr>
              <a:t>===== PROFESSOR ALWAYS RESEARCHER =====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1801368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  <a:latin typeface="Consolas"/>
              </a:rPr>
              <a:t>t1 (PROFESSOR) isActiveResearcher: true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029967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onsolas"/>
              </a:rPr>
              <a:t>t2 (LECTURER)  isActiveResearcher: false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2258568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  <a:latin typeface="Consolas"/>
              </a:rPr>
              <a:t>t3 after promotion to PROFESSOR: true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2487168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onsola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2715768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B923C"/>
                </a:solidFill>
                <a:latin typeface="Consolas"/>
              </a:rPr>
              <a:t>===== ACADEMIC SYSTEM =====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2944368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72B6"/>
                </a:solidFill>
                <a:latin typeface="Consolas"/>
              </a:rPr>
              <a:t>Cannot register: Aliya Serik not in major 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3172968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  <a:latin typeface="Consolas"/>
              </a:rPr>
              <a:t>Dias Tanirbergen graded Nurzhan in OOP: 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3401568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onsolas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3630168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B923C"/>
                </a:solidFill>
                <a:latin typeface="Consolas"/>
              </a:rPr>
              <a:t>===== RESEARCH SYSTEM =====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3858768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  <a:latin typeface="Consolas"/>
              </a:rPr>
              <a:t>Top cited overall: Zarina Bekova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4087368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  <a:latin typeface="Consolas"/>
              </a:rPr>
              <a:t>Top in FIT: Zarina Bekova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4315968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  <a:latin typeface="Consolas"/>
              </a:rPr>
              <a:t>Top in 2025: Aliya Serik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4544568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onsolas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4773168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B923C"/>
                </a:solidFill>
                <a:latin typeface="Consolas"/>
              </a:rPr>
              <a:t>===== 4TH YEAR SUPERVISOR =====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5001768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  <a:latin typeface="Consolas"/>
              </a:rPr>
              <a:t>Supervisor assigned: Dias Tanirbergen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5230368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72B6"/>
                </a:solidFill>
                <a:latin typeface="Consolas"/>
              </a:rPr>
              <a:t>Error: Supervisor must have h-index &gt;=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5458968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  <a:latin typeface="Consolas"/>
              </a:rPr>
              <a:t>RE supervisor assigned: Zarina Bekova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5687568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onsolas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5916168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B923C"/>
                </a:solidFill>
                <a:latin typeface="Consolas"/>
              </a:rPr>
              <a:t>===== FINAL SYSTEM =====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6144768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  <a:latin typeface="Consolas"/>
              </a:rPr>
              <a:t>Saved successfully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6373368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  <a:latin typeface="Consolas"/>
              </a:rPr>
              <a:t>Loaded successfully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6601968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  <a:latin typeface="Consolas"/>
              </a:rPr>
              <a:t>Login success: Nurzhan Kalmurat-Updated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0" y="1207008"/>
            <a:ext cx="4526280" cy="1143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06640" y="1207008"/>
            <a:ext cx="45720" cy="1143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9519" y="12984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alibri"/>
              </a:rPr>
              <a:t>IMPLEMENTED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19" y="1664208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22 / 22 requirements
from project checklist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06640" y="2505456"/>
            <a:ext cx="4526280" cy="1143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06640" y="2505456"/>
            <a:ext cx="45720" cy="1143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89519" y="259689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PATTERNS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19" y="2962656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Singleton · Factory
Observer · Strategy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06640" y="3803904"/>
            <a:ext cx="4526280" cy="1143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406640" y="3803904"/>
            <a:ext cx="45720" cy="11430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89519" y="389534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18CF8"/>
                </a:solidFill>
                <a:latin typeface="Calibri"/>
              </a:rPr>
              <a:t>OOP PILLARS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89519" y="4261104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Inheritance · Polymorphism
Encapsulation · Abstraction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06640" y="5102352"/>
            <a:ext cx="4526280" cy="1143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406640" y="5102352"/>
            <a:ext cx="45720" cy="1143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89519" y="51937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923C"/>
                </a:solidFill>
                <a:latin typeface="Calibri"/>
              </a:rPr>
              <a:t>DELIVERABLES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9519" y="555955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Code + HTML Docs
+ Presentation + Report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52881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923C"/>
                </a:solidFill>
                <a:latin typeface="Calibri"/>
              </a:rPr>
              <a:t>University Management System  ·  OOP Group G1  ·  Java SE 21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