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0A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" name="wave"/>
          <p:cNvSpPr>
            <a:spLocks noGrp="1"/>
          </p:cNvSpPr>
          <p:nvPr/>
        </p:nvSpPr>
        <p:spPr>
          <a:xfrm>
            <a:off x="0" y="731520"/>
            <a:ext cx="12188952" cy="1280160"/>
          </a:xfrm>
          <a:prstGeom prst="wave">
            <a:avLst>
              <a:gd name="adj1" fmla="val 12500"/>
              <a:gd name="adj2" fmla="val 0"/>
            </a:avLst>
          </a:prstGeom>
          <a:solidFill>
            <a:srgbClr val="2E1206">
              <a:alpha val="9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wave"/>
          <p:cNvSpPr>
            <a:spLocks noGrp="1"/>
          </p:cNvSpPr>
          <p:nvPr/>
        </p:nvSpPr>
        <p:spPr>
          <a:xfrm>
            <a:off x="0" y="1645920"/>
            <a:ext cx="12188952" cy="1097280"/>
          </a:xfrm>
          <a:prstGeom prst="wave">
            <a:avLst>
              <a:gd name="adj1" fmla="val 12500"/>
              <a:gd name="adj2" fmla="val 0"/>
            </a:avLst>
          </a:prstGeom>
          <a:solidFill>
            <a:srgbClr val="3D1A08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wave"/>
          <p:cNvSpPr>
            <a:spLocks noGrp="1"/>
          </p:cNvSpPr>
          <p:nvPr/>
        </p:nvSpPr>
        <p:spPr>
          <a:xfrm>
            <a:off x="0" y="2743200"/>
            <a:ext cx="12188952" cy="914400"/>
          </a:xfrm>
          <a:prstGeom prst="wave">
            <a:avLst>
              <a:gd name="adj1" fmla="val 12500"/>
              <a:gd name="adj2" fmla="val 0"/>
            </a:avLst>
          </a:prstGeom>
          <a:solidFill>
            <a:srgbClr val="2E1206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wave"/>
          <p:cNvSpPr>
            <a:spLocks noGrp="1"/>
          </p:cNvSpPr>
          <p:nvPr/>
        </p:nvSpPr>
        <p:spPr>
          <a:xfrm>
            <a:off x="0" y="4572000"/>
            <a:ext cx="12188952" cy="1371600"/>
          </a:xfrm>
          <a:prstGeom prst="wave">
            <a:avLst>
              <a:gd name="adj1" fmla="val 12500"/>
              <a:gd name="adj2" fmla="val 0"/>
            </a:avLst>
          </a:prstGeom>
          <a:solidFill>
            <a:srgbClr val="3D1A08">
              <a:alpha val="6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00" name="Rectangle 999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Rectangle 1001"/>
          <p:cNvSpPr/>
          <p:nvPr/>
        </p:nvSpPr>
        <p:spPr>
          <a:xfrm>
            <a:off x="457200" y="868680"/>
            <a:ext cx="4114800" cy="292608"/>
          </a:xfrm>
          <a:prstGeom prst="rect">
            <a:avLst/>
          </a:prstGeom>
          <a:solidFill>
            <a:srgbClr val="3D1A08"/>
          </a:solidFill>
          <a:ln w="10160">
            <a:solidFill>
              <a:srgbClr val="E8A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TextBox 1002"/>
          <p:cNvSpPr txBox="1"/>
          <p:nvPr/>
        </p:nvSpPr>
        <p:spPr>
          <a:xfrm>
            <a:off x="502920" y="86868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8A85E"/>
                </a:solidFill>
                <a:latin typeface="Consolas"/>
              </a:rPr>
              <a:t>◆  OOP GROUP G1   ·   JAVA SE 21   ·   2026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457200" y="13258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University</a:t>
            </a:r>
          </a:p>
        </p:txBody>
      </p:sp>
      <p:sp>
        <p:nvSpPr>
          <p:cNvPr id="1005" name="TextBox 1004"/>
          <p:cNvSpPr txBox="1"/>
          <p:nvPr/>
        </p:nvSpPr>
        <p:spPr>
          <a:xfrm>
            <a:off x="457200" y="21031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E8A85E"/>
                </a:solidFill>
                <a:latin typeface="Calibri"/>
              </a:rPr>
              <a:t>Management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457200" y="288036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1">
                <a:solidFill>
                  <a:srgbClr val="D9944E"/>
                </a:solidFill>
                <a:latin typeface="Calibri"/>
              </a:rPr>
              <a:t>System</a:t>
            </a:r>
          </a:p>
        </p:txBody>
      </p:sp>
      <p:sp>
        <p:nvSpPr>
          <p:cNvPr id="1007" name="TextBox 1006"/>
          <p:cNvSpPr txBox="1"/>
          <p:nvPr/>
        </p:nvSpPr>
        <p:spPr>
          <a:xfrm>
            <a:off x="457200" y="38404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A882"/>
                </a:solidFill>
                <a:latin typeface="Calibri"/>
              </a:rPr>
              <a:t>Research-Oriented University Information System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457200" y="41605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3818"/>
                </a:solidFill>
                <a:latin typeface="Calibri"/>
              </a:rPr>
              <a:t>Console-based · Java OOP · Design Patterns · Serialization</a:t>
            </a:r>
          </a:p>
        </p:txBody>
      </p:sp>
      <p:sp>
        <p:nvSpPr>
          <p:cNvPr id="1009" name="Rectangle 1008"/>
          <p:cNvSpPr/>
          <p:nvPr/>
        </p:nvSpPr>
        <p:spPr>
          <a:xfrm>
            <a:off x="6858000" y="3840480"/>
            <a:ext cx="1554480" cy="1097280"/>
          </a:xfrm>
          <a:prstGeom prst="rect">
            <a:avLst/>
          </a:prstGeom>
          <a:solidFill>
            <a:srgbClr val="3D1A08"/>
          </a:solidFill>
          <a:ln w="10160">
            <a:solidFill>
              <a:srgbClr val="E8A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Rectangle 1009"/>
          <p:cNvSpPr/>
          <p:nvPr/>
        </p:nvSpPr>
        <p:spPr>
          <a:xfrm>
            <a:off x="6858000" y="3840480"/>
            <a:ext cx="1554480" cy="36576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6967728" y="3913632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A85E"/>
                </a:solidFill>
                <a:latin typeface="Calibri"/>
              </a:rPr>
              <a:t>38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6967728" y="4498848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4A882"/>
                </a:solidFill>
                <a:latin typeface="Calibri"/>
              </a:rPr>
              <a:t>Java Files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8595360" y="3840480"/>
            <a:ext cx="1554480" cy="1097280"/>
          </a:xfrm>
          <a:prstGeom prst="rect">
            <a:avLst/>
          </a:prstGeom>
          <a:solidFill>
            <a:srgbClr val="3D1A08"/>
          </a:solidFill>
          <a:ln w="10160">
            <a:solidFill>
              <a:srgbClr val="E8A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Rectangle 1013"/>
          <p:cNvSpPr/>
          <p:nvPr/>
        </p:nvSpPr>
        <p:spPr>
          <a:xfrm>
            <a:off x="8595360" y="3840480"/>
            <a:ext cx="1554480" cy="36576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8705088" y="3913632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A85E"/>
                </a:solidFill>
                <a:latin typeface="Calibri"/>
              </a:rPr>
              <a:t>4</a:t>
            </a:r>
          </a:p>
        </p:txBody>
      </p:sp>
      <p:sp>
        <p:nvSpPr>
          <p:cNvPr id="1016" name="TextBox 1015"/>
          <p:cNvSpPr txBox="1"/>
          <p:nvPr/>
        </p:nvSpPr>
        <p:spPr>
          <a:xfrm>
            <a:off x="8705088" y="4498848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4A882"/>
                </a:solidFill>
                <a:latin typeface="Calibri"/>
              </a:rPr>
              <a:t>Patterns</a:t>
            </a:r>
          </a:p>
        </p:txBody>
      </p:sp>
      <p:sp>
        <p:nvSpPr>
          <p:cNvPr id="1017" name="Rectangle 1016"/>
          <p:cNvSpPr/>
          <p:nvPr/>
        </p:nvSpPr>
        <p:spPr>
          <a:xfrm>
            <a:off x="10332720" y="3840480"/>
            <a:ext cx="1554480" cy="1097280"/>
          </a:xfrm>
          <a:prstGeom prst="rect">
            <a:avLst/>
          </a:prstGeom>
          <a:solidFill>
            <a:srgbClr val="3D1A08"/>
          </a:solidFill>
          <a:ln w="10160">
            <a:solidFill>
              <a:srgbClr val="E8A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Rectangle 1017"/>
          <p:cNvSpPr/>
          <p:nvPr/>
        </p:nvSpPr>
        <p:spPr>
          <a:xfrm>
            <a:off x="10332720" y="3840480"/>
            <a:ext cx="1554480" cy="36576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10442448" y="3913632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A85E"/>
                </a:solidFill>
                <a:latin typeface="Calibri"/>
              </a:rPr>
              <a:t>12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10442448" y="4498848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4A882"/>
                </a:solidFill>
                <a:latin typeface="Calibri"/>
              </a:rPr>
              <a:t>Classes</a:t>
            </a:r>
          </a:p>
        </p:txBody>
      </p:sp>
      <p:sp>
        <p:nvSpPr>
          <p:cNvPr id="1021" name="Rectangle 1020"/>
          <p:cNvSpPr/>
          <p:nvPr/>
        </p:nvSpPr>
        <p:spPr>
          <a:xfrm>
            <a:off x="6858000" y="5212080"/>
            <a:ext cx="1554480" cy="1097280"/>
          </a:xfrm>
          <a:prstGeom prst="rect">
            <a:avLst/>
          </a:prstGeom>
          <a:solidFill>
            <a:srgbClr val="3D1A08"/>
          </a:solidFill>
          <a:ln w="10160">
            <a:solidFill>
              <a:srgbClr val="E8A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Rectangle 1021"/>
          <p:cNvSpPr/>
          <p:nvPr/>
        </p:nvSpPr>
        <p:spPr>
          <a:xfrm>
            <a:off x="6858000" y="5212080"/>
            <a:ext cx="1554480" cy="36576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6967728" y="5285232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A85E"/>
                </a:solidFill>
                <a:latin typeface="Calibri"/>
              </a:rPr>
              <a:t>5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6967728" y="5870448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4A882"/>
                </a:solidFill>
                <a:latin typeface="Calibri"/>
              </a:rPr>
              <a:t>Enums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8595360" y="5212080"/>
            <a:ext cx="1554480" cy="1097280"/>
          </a:xfrm>
          <a:prstGeom prst="rect">
            <a:avLst/>
          </a:prstGeom>
          <a:solidFill>
            <a:srgbClr val="3D1A08"/>
          </a:solidFill>
          <a:ln w="10160">
            <a:solidFill>
              <a:srgbClr val="E8A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Rectangle 1025"/>
          <p:cNvSpPr/>
          <p:nvPr/>
        </p:nvSpPr>
        <p:spPr>
          <a:xfrm>
            <a:off x="8595360" y="5212080"/>
            <a:ext cx="1554480" cy="36576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TextBox 1026"/>
          <p:cNvSpPr txBox="1"/>
          <p:nvPr/>
        </p:nvSpPr>
        <p:spPr>
          <a:xfrm>
            <a:off x="8705088" y="5285232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A85E"/>
                </a:solidFill>
                <a:latin typeface="Calibri"/>
              </a:rPr>
              <a:t>22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8705088" y="5870448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4A882"/>
                </a:solidFill>
                <a:latin typeface="Calibri"/>
              </a:rPr>
              <a:t>Requirements</a:t>
            </a:r>
          </a:p>
        </p:txBody>
      </p:sp>
      <p:sp>
        <p:nvSpPr>
          <p:cNvPr id="1029" name="Rectangle 102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A3818"/>
                </a:solidFill>
                <a:latin typeface="Consolas"/>
              </a:rPr>
              <a:t>github.com/kkkhanbin/G1_OOP_Project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0A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" name="wave"/>
          <p:cNvSpPr>
            <a:spLocks noGrp="1"/>
          </p:cNvSpPr>
          <p:nvPr/>
        </p:nvSpPr>
        <p:spPr>
          <a:xfrm>
            <a:off x="0" y="0"/>
            <a:ext cx="12188952" cy="1097280"/>
          </a:xfrm>
          <a:prstGeom prst="wave">
            <a:avLst>
              <a:gd name="adj1" fmla="val 12500"/>
              <a:gd name="adj2" fmla="val 0"/>
            </a:avLst>
          </a:prstGeom>
          <a:solidFill>
            <a:srgbClr val="2E1206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wave"/>
          <p:cNvSpPr>
            <a:spLocks noGrp="1"/>
          </p:cNvSpPr>
          <p:nvPr/>
        </p:nvSpPr>
        <p:spPr>
          <a:xfrm>
            <a:off x="0" y="5029200"/>
            <a:ext cx="12188952" cy="1828800"/>
          </a:xfrm>
          <a:prstGeom prst="wave">
            <a:avLst>
              <a:gd name="adj1" fmla="val 12500"/>
              <a:gd name="adj2" fmla="val 0"/>
            </a:avLst>
          </a:prstGeom>
          <a:solidFill>
            <a:srgbClr val="3D1A08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00" name="Rectangle 999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74320" y="73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8A85E"/>
                </a:solidFill>
                <a:latin typeface="Consolas"/>
              </a:rPr>
              <a:t>01 — ARCHITECTURE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743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Design Patterns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274320" y="6583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A882"/>
                </a:solidFill>
                <a:latin typeface="Calibri"/>
              </a:rPr>
              <a:t>Four industry-standard patterns implemented throughout the system</a:t>
            </a:r>
          </a:p>
        </p:txBody>
      </p:sp>
      <p:sp>
        <p:nvSpPr>
          <p:cNvPr id="1005" name="Rectangle 1004"/>
          <p:cNvSpPr/>
          <p:nvPr/>
        </p:nvSpPr>
        <p:spPr>
          <a:xfrm>
            <a:off x="274320" y="1051560"/>
            <a:ext cx="5486400" cy="2514600"/>
          </a:xfrm>
          <a:prstGeom prst="rect">
            <a:avLst/>
          </a:prstGeom>
          <a:solidFill>
            <a:srgbClr val="3D1A08"/>
          </a:solidFill>
          <a:ln w="1016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Rectangle 1005"/>
          <p:cNvSpPr/>
          <p:nvPr/>
        </p:nvSpPr>
        <p:spPr>
          <a:xfrm>
            <a:off x="274320" y="1051560"/>
            <a:ext cx="5486400" cy="36576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TextBox 1006"/>
          <p:cNvSpPr txBox="1"/>
          <p:nvPr/>
        </p:nvSpPr>
        <p:spPr>
          <a:xfrm>
            <a:off x="411479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8A85E"/>
                </a:solidFill>
                <a:latin typeface="Calibri"/>
              </a:rPr>
              <a:t>◈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777240" y="1143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Singleton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411479" y="1527048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A882"/>
                </a:solidFill>
                <a:latin typeface="Calibri"/>
              </a:rPr>
              <a:t>DataStore — one instance
Private constructor + getInstance()
Save/load via serialization</a:t>
            </a:r>
          </a:p>
        </p:txBody>
      </p:sp>
      <p:sp>
        <p:nvSpPr>
          <p:cNvPr id="1010" name="TextBox 1009"/>
          <p:cNvSpPr txBox="1"/>
          <p:nvPr/>
        </p:nvSpPr>
        <p:spPr>
          <a:xfrm>
            <a:off x="411479" y="26517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8A85E"/>
                </a:solidFill>
                <a:latin typeface="Consolas"/>
              </a:rPr>
              <a:t>DataStore · getInstance() · save() · load()</a:t>
            </a:r>
          </a:p>
        </p:txBody>
      </p:sp>
      <p:sp>
        <p:nvSpPr>
          <p:cNvPr id="1011" name="Rectangle 1010"/>
          <p:cNvSpPr/>
          <p:nvPr/>
        </p:nvSpPr>
        <p:spPr>
          <a:xfrm>
            <a:off x="6217920" y="1051560"/>
            <a:ext cx="5486400" cy="2514600"/>
          </a:xfrm>
          <a:prstGeom prst="rect">
            <a:avLst/>
          </a:prstGeom>
          <a:solidFill>
            <a:srgbClr val="3D1A08"/>
          </a:solidFill>
          <a:ln w="1016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Rectangle 1011"/>
          <p:cNvSpPr/>
          <p:nvPr/>
        </p:nvSpPr>
        <p:spPr>
          <a:xfrm>
            <a:off x="6217920" y="1051560"/>
            <a:ext cx="5486400" cy="36576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TextBox 1012"/>
          <p:cNvSpPr txBox="1"/>
          <p:nvPr/>
        </p:nvSpPr>
        <p:spPr>
          <a:xfrm>
            <a:off x="6355080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9944E"/>
                </a:solidFill>
                <a:latin typeface="Calibri"/>
              </a:rPr>
              <a:t>◇</a:t>
            </a:r>
          </a:p>
        </p:txBody>
      </p:sp>
      <p:sp>
        <p:nvSpPr>
          <p:cNvPr id="1014" name="TextBox 1013"/>
          <p:cNvSpPr txBox="1"/>
          <p:nvPr/>
        </p:nvSpPr>
        <p:spPr>
          <a:xfrm>
            <a:off x="6720840" y="1143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Factory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6355080" y="1527048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A882"/>
                </a:solidFill>
                <a:latin typeface="Calibri"/>
              </a:rPr>
              <a:t>UserFactory.createUser(type,...)
Returns correct subclass
Throws if unknown type</a:t>
            </a:r>
          </a:p>
        </p:txBody>
      </p:sp>
      <p:sp>
        <p:nvSpPr>
          <p:cNvPr id="1016" name="TextBox 1015"/>
          <p:cNvSpPr txBox="1"/>
          <p:nvPr/>
        </p:nvSpPr>
        <p:spPr>
          <a:xfrm>
            <a:off x="6355080" y="26517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9944E"/>
                </a:solidFill>
                <a:latin typeface="Consolas"/>
              </a:rPr>
              <a:t>UserFactory · createUser() · Student · Teacher</a:t>
            </a:r>
          </a:p>
        </p:txBody>
      </p:sp>
      <p:sp>
        <p:nvSpPr>
          <p:cNvPr id="1017" name="Rectangle 1016"/>
          <p:cNvSpPr/>
          <p:nvPr/>
        </p:nvSpPr>
        <p:spPr>
          <a:xfrm>
            <a:off x="274320" y="3749039"/>
            <a:ext cx="5486400" cy="2514600"/>
          </a:xfrm>
          <a:prstGeom prst="rect">
            <a:avLst/>
          </a:prstGeom>
          <a:solidFill>
            <a:srgbClr val="3D1A08"/>
          </a:solidFill>
          <a:ln w="1016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Rectangle 1017"/>
          <p:cNvSpPr/>
          <p:nvPr/>
        </p:nvSpPr>
        <p:spPr>
          <a:xfrm>
            <a:off x="274320" y="3749039"/>
            <a:ext cx="5486400" cy="36576"/>
          </a:xfrm>
          <a:prstGeom prst="rect">
            <a:avLst/>
          </a:prstGeom>
          <a:solidFill>
            <a:srgbClr val="7D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411479" y="38404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7DC47A"/>
                </a:solidFill>
                <a:latin typeface="Calibri"/>
              </a:rPr>
              <a:t>◉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777240" y="3840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Observer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11479" y="4224527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A882"/>
                </a:solidFill>
                <a:latin typeface="Calibri"/>
              </a:rPr>
              <a:t>News = Subject with List&lt;Observer&gt;
NewsSubscriber.update(News)
publishNews() fires notifyObservers()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411479" y="53492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DC47A"/>
                </a:solidFill>
                <a:latin typeface="Consolas"/>
              </a:rPr>
              <a:t>News · Observer · NewsSubscriber · notifyObservers()</a:t>
            </a:r>
          </a:p>
        </p:txBody>
      </p:sp>
      <p:sp>
        <p:nvSpPr>
          <p:cNvPr id="1023" name="Rectangle 1022"/>
          <p:cNvSpPr/>
          <p:nvPr/>
        </p:nvSpPr>
        <p:spPr>
          <a:xfrm>
            <a:off x="6217920" y="3749039"/>
            <a:ext cx="5486400" cy="2514600"/>
          </a:xfrm>
          <a:prstGeom prst="rect">
            <a:avLst/>
          </a:prstGeom>
          <a:solidFill>
            <a:srgbClr val="3D1A08"/>
          </a:solidFill>
          <a:ln w="1016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Rectangle 1023"/>
          <p:cNvSpPr/>
          <p:nvPr/>
        </p:nvSpPr>
        <p:spPr>
          <a:xfrm>
            <a:off x="6217920" y="3749039"/>
            <a:ext cx="5486400" cy="36576"/>
          </a:xfrm>
          <a:prstGeom prst="rect">
            <a:avLst/>
          </a:prstGeom>
          <a:solidFill>
            <a:srgbClr val="7A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6355080" y="38404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7AB8C4"/>
                </a:solidFill>
                <a:latin typeface="Calibri"/>
              </a:rPr>
              <a:t>◫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6720840" y="3840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6355080" y="4224527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A882"/>
                </a:solidFill>
                <a:latin typeface="Calibri"/>
              </a:rPr>
              <a:t>printPapers(Comparator c)
Swap sort algorithm at runtime
5 interchangeable comparators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6355080" y="53492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AB8C4"/>
                </a:solidFill>
                <a:latin typeface="Consolas"/>
              </a:rPr>
              <a:t>PaperByCitations · PaperByDate · PaperByPages</a:t>
            </a:r>
          </a:p>
        </p:txBody>
      </p:sp>
      <p:sp>
        <p:nvSpPr>
          <p:cNvPr id="1029" name="Rectangle 102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A85E"/>
                </a:solidFill>
                <a:latin typeface="Calibri"/>
              </a:rPr>
              <a:t>Singleton · Factory · Observer · Strategy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0A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" name="wave"/>
          <p:cNvSpPr>
            <a:spLocks noGrp="1"/>
          </p:cNvSpPr>
          <p:nvPr/>
        </p:nvSpPr>
        <p:spPr>
          <a:xfrm>
            <a:off x="0" y="5486400"/>
            <a:ext cx="12188952" cy="1828800"/>
          </a:xfrm>
          <a:prstGeom prst="wave">
            <a:avLst>
              <a:gd name="adj1" fmla="val 12500"/>
              <a:gd name="adj2" fmla="val 0"/>
            </a:avLst>
          </a:prstGeom>
          <a:solidFill>
            <a:srgbClr val="2E1206">
              <a:alpha val="7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wave"/>
          <p:cNvSpPr>
            <a:spLocks noGrp="1"/>
          </p:cNvSpPr>
          <p:nvPr/>
        </p:nvSpPr>
        <p:spPr>
          <a:xfrm>
            <a:off x="0" y="0"/>
            <a:ext cx="12188952" cy="822960"/>
          </a:xfrm>
          <a:prstGeom prst="wave">
            <a:avLst>
              <a:gd name="adj1" fmla="val 12500"/>
              <a:gd name="adj2" fmla="val 0"/>
            </a:avLst>
          </a:prstGeom>
          <a:solidFill>
            <a:srgbClr val="3D1A08">
              <a:alpha val="7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00" name="Rectangle 999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74320" y="73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8A85E"/>
                </a:solidFill>
                <a:latin typeface="Consolas"/>
              </a:rPr>
              <a:t>02 — STRUCTURE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743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Class Hierarchy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274320" y="6583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A882"/>
                </a:solidFill>
                <a:latin typeface="Calibri"/>
              </a:rPr>
              <a:t>Inheritance tree · extends &amp; implements relationships</a:t>
            </a:r>
          </a:p>
        </p:txBody>
      </p:sp>
      <p:sp>
        <p:nvSpPr>
          <p:cNvPr id="1005" name="TextBox 1004"/>
          <p:cNvSpPr txBox="1"/>
          <p:nvPr/>
        </p:nvSpPr>
        <p:spPr>
          <a:xfrm>
            <a:off x="457200" y="1005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944E"/>
                </a:solidFill>
                <a:latin typeface="Calibri"/>
              </a:rPr>
              <a:t>──►  extends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60320" y="1005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DC47A"/>
                </a:solidFill>
                <a:latin typeface="Calibri"/>
              </a:rPr>
              <a:t>- - ►  implements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4572000" y="960120"/>
            <a:ext cx="3017520" cy="685800"/>
          </a:xfrm>
          <a:prstGeom prst="rect">
            <a:avLst/>
          </a:prstGeom>
          <a:solidFill>
            <a:srgbClr val="5C2810"/>
          </a:solidFill>
          <a:ln w="19050">
            <a:solidFill>
              <a:srgbClr val="B86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4681728" y="99669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4A882"/>
                </a:solidFill>
                <a:latin typeface="Consolas"/>
              </a:rPr>
              <a:t>ABSTRACT CLASS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4681728" y="11795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944E"/>
                </a:solidFill>
                <a:latin typeface="Calibri"/>
              </a:rPr>
              <a:t>User</a:t>
            </a:r>
          </a:p>
        </p:txBody>
      </p:sp>
      <p:sp>
        <p:nvSpPr>
          <p:cNvPr id="1010" name="TextBox 1009"/>
          <p:cNvSpPr txBox="1"/>
          <p:nvPr/>
        </p:nvSpPr>
        <p:spPr>
          <a:xfrm>
            <a:off x="4681728" y="148132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4A882"/>
                </a:solidFill>
                <a:latin typeface="Consolas"/>
              </a:rPr>
              <a:t>Serializable · Comparable&lt;User&gt;</a:t>
            </a:r>
          </a:p>
        </p:txBody>
      </p:sp>
      <p:sp>
        <p:nvSpPr>
          <p:cNvPr id="1011" name="Rectangle 1010"/>
          <p:cNvSpPr/>
          <p:nvPr/>
        </p:nvSpPr>
        <p:spPr>
          <a:xfrm>
            <a:off x="6071616" y="1645920"/>
            <a:ext cx="18288" cy="274320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Rectangle 1011"/>
          <p:cNvSpPr/>
          <p:nvPr/>
        </p:nvSpPr>
        <p:spPr>
          <a:xfrm>
            <a:off x="3840480" y="1911096"/>
            <a:ext cx="4480559" cy="18288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Rectangle 1012"/>
          <p:cNvSpPr/>
          <p:nvPr/>
        </p:nvSpPr>
        <p:spPr>
          <a:xfrm>
            <a:off x="4014216" y="1920240"/>
            <a:ext cx="18288" cy="274319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Rectangle 1013"/>
          <p:cNvSpPr/>
          <p:nvPr/>
        </p:nvSpPr>
        <p:spPr>
          <a:xfrm>
            <a:off x="8129016" y="1920240"/>
            <a:ext cx="18288" cy="274319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3200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9944E"/>
                </a:solidFill>
                <a:latin typeface="Consolas"/>
              </a:rPr>
              <a:t>extends</a:t>
            </a:r>
          </a:p>
        </p:txBody>
      </p:sp>
      <p:sp>
        <p:nvSpPr>
          <p:cNvPr id="1016" name="TextBox 1015"/>
          <p:cNvSpPr txBox="1"/>
          <p:nvPr/>
        </p:nvSpPr>
        <p:spPr>
          <a:xfrm>
            <a:off x="73152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9944E"/>
                </a:solidFill>
                <a:latin typeface="Consolas"/>
              </a:rPr>
              <a:t>extends</a:t>
            </a:r>
          </a:p>
        </p:txBody>
      </p:sp>
      <p:sp>
        <p:nvSpPr>
          <p:cNvPr id="1017" name="Rectangle 1016"/>
          <p:cNvSpPr/>
          <p:nvPr/>
        </p:nvSpPr>
        <p:spPr>
          <a:xfrm>
            <a:off x="2834640" y="2194560"/>
            <a:ext cx="2377440" cy="594360"/>
          </a:xfrm>
          <a:prstGeom prst="rect">
            <a:avLst/>
          </a:prstGeom>
          <a:solidFill>
            <a:srgbClr val="3D1A08"/>
          </a:solidFill>
          <a:ln w="12700">
            <a:solidFill>
              <a:srgbClr val="7A3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944368" y="2231136"/>
            <a:ext cx="2103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4A882"/>
                </a:solidFill>
                <a:latin typeface="Consolas"/>
              </a:rPr>
              <a:t>CLASS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2944368" y="24323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Employee</a:t>
            </a:r>
          </a:p>
        </p:txBody>
      </p:sp>
      <p:sp>
        <p:nvSpPr>
          <p:cNvPr id="1020" name="Rectangle 1019"/>
          <p:cNvSpPr/>
          <p:nvPr/>
        </p:nvSpPr>
        <p:spPr>
          <a:xfrm>
            <a:off x="6949440" y="2194560"/>
            <a:ext cx="2377440" cy="685800"/>
          </a:xfrm>
          <a:prstGeom prst="rect">
            <a:avLst/>
          </a:prstGeom>
          <a:solidFill>
            <a:srgbClr val="3D1A08"/>
          </a:solidFill>
          <a:ln w="12700">
            <a:solidFill>
              <a:srgbClr val="7A3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TextBox 1020"/>
          <p:cNvSpPr txBox="1"/>
          <p:nvPr/>
        </p:nvSpPr>
        <p:spPr>
          <a:xfrm>
            <a:off x="7059168" y="2231136"/>
            <a:ext cx="2103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4A882"/>
                </a:solidFill>
                <a:latin typeface="Consolas"/>
              </a:rPr>
              <a:t>CLASS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7059168" y="24323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Student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7059168" y="269748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DC47A"/>
                </a:solidFill>
                <a:latin typeface="Consolas"/>
              </a:rPr>
              <a:t>- - ► implements Researcher</a:t>
            </a:r>
          </a:p>
        </p:txBody>
      </p:sp>
      <p:sp>
        <p:nvSpPr>
          <p:cNvPr id="1024" name="Rectangle 1023"/>
          <p:cNvSpPr/>
          <p:nvPr/>
        </p:nvSpPr>
        <p:spPr>
          <a:xfrm>
            <a:off x="4014216" y="2788920"/>
            <a:ext cx="18288" cy="274320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ectangle 1024"/>
          <p:cNvSpPr/>
          <p:nvPr/>
        </p:nvSpPr>
        <p:spPr>
          <a:xfrm>
            <a:off x="548640" y="3054096"/>
            <a:ext cx="6949440" cy="18288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Rectangle 1025"/>
          <p:cNvSpPr/>
          <p:nvPr/>
        </p:nvSpPr>
        <p:spPr>
          <a:xfrm>
            <a:off x="1042415" y="3063240"/>
            <a:ext cx="18288" cy="182879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Rectangle 1026"/>
          <p:cNvSpPr/>
          <p:nvPr/>
        </p:nvSpPr>
        <p:spPr>
          <a:xfrm>
            <a:off x="320040" y="3246120"/>
            <a:ext cx="1600200" cy="594360"/>
          </a:xfrm>
          <a:prstGeom prst="rect">
            <a:avLst/>
          </a:prstGeom>
          <a:solidFill>
            <a:srgbClr val="5C2810"/>
          </a:solidFill>
          <a:ln w="10160">
            <a:solidFill>
              <a:srgbClr val="7A3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TextBox 1027"/>
          <p:cNvSpPr txBox="1"/>
          <p:nvPr/>
        </p:nvSpPr>
        <p:spPr>
          <a:xfrm>
            <a:off x="429768" y="328269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C4A882"/>
                </a:solidFill>
                <a:latin typeface="Consolas"/>
              </a:rPr>
              <a:t>CLASS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429768" y="3447288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Manager</a:t>
            </a:r>
          </a:p>
        </p:txBody>
      </p:sp>
      <p:sp>
        <p:nvSpPr>
          <p:cNvPr id="1030" name="Rectangle 1029"/>
          <p:cNvSpPr/>
          <p:nvPr/>
        </p:nvSpPr>
        <p:spPr>
          <a:xfrm>
            <a:off x="2642616" y="3063240"/>
            <a:ext cx="18288" cy="182879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Rectangle 1030"/>
          <p:cNvSpPr/>
          <p:nvPr/>
        </p:nvSpPr>
        <p:spPr>
          <a:xfrm>
            <a:off x="1920240" y="3246120"/>
            <a:ext cx="1600200" cy="594360"/>
          </a:xfrm>
          <a:prstGeom prst="rect">
            <a:avLst/>
          </a:prstGeom>
          <a:solidFill>
            <a:srgbClr val="5C2810"/>
          </a:solidFill>
          <a:ln w="10160">
            <a:solidFill>
              <a:srgbClr val="7A3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2029968" y="328269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C4A882"/>
                </a:solidFill>
                <a:latin typeface="Consolas"/>
              </a:rPr>
              <a:t>CLASS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2029968" y="3447288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Admin</a:t>
            </a:r>
          </a:p>
        </p:txBody>
      </p:sp>
      <p:sp>
        <p:nvSpPr>
          <p:cNvPr id="1034" name="Rectangle 1033"/>
          <p:cNvSpPr/>
          <p:nvPr/>
        </p:nvSpPr>
        <p:spPr>
          <a:xfrm>
            <a:off x="4242816" y="3063240"/>
            <a:ext cx="18288" cy="182879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Rectangle 1034"/>
          <p:cNvSpPr/>
          <p:nvPr/>
        </p:nvSpPr>
        <p:spPr>
          <a:xfrm>
            <a:off x="3520440" y="3246120"/>
            <a:ext cx="1600200" cy="822960"/>
          </a:xfrm>
          <a:prstGeom prst="rect">
            <a:avLst/>
          </a:prstGeom>
          <a:solidFill>
            <a:srgbClr val="5C2810"/>
          </a:solidFill>
          <a:ln w="10160">
            <a:solidFill>
              <a:srgbClr val="7A3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3630168" y="328269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C4A882"/>
                </a:solidFill>
                <a:latin typeface="Consolas"/>
              </a:rPr>
              <a:t>CLASS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3630168" y="3447288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Teacher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3630168" y="3712463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7DC47A"/>
                </a:solidFill>
                <a:latin typeface="Consolas"/>
              </a:rPr>
              <a:t>- - ► Researcher</a:t>
            </a:r>
          </a:p>
        </p:txBody>
      </p:sp>
      <p:sp>
        <p:nvSpPr>
          <p:cNvPr id="1039" name="Rectangle 1038"/>
          <p:cNvSpPr/>
          <p:nvPr/>
        </p:nvSpPr>
        <p:spPr>
          <a:xfrm>
            <a:off x="6117336" y="3063240"/>
            <a:ext cx="18288" cy="182879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Rectangle 1039"/>
          <p:cNvSpPr/>
          <p:nvPr/>
        </p:nvSpPr>
        <p:spPr>
          <a:xfrm>
            <a:off x="5394959" y="3246120"/>
            <a:ext cx="1600200" cy="822960"/>
          </a:xfrm>
          <a:prstGeom prst="rect">
            <a:avLst/>
          </a:prstGeom>
          <a:solidFill>
            <a:srgbClr val="5C2810"/>
          </a:solidFill>
          <a:ln w="19050">
            <a:solidFill>
              <a:srgbClr val="E8A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5504688" y="328269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C4A882"/>
                </a:solidFill>
                <a:latin typeface="Consolas"/>
              </a:rPr>
              <a:t>CLASS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5504688" y="3447288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85E"/>
                </a:solidFill>
                <a:latin typeface="Calibri"/>
              </a:rPr>
              <a:t>ResearcherEmployee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5504688" y="3712463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7DC47A"/>
                </a:solidFill>
                <a:latin typeface="Consolas"/>
              </a:rPr>
              <a:t>- - ► Researcher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5806440" y="3182112"/>
            <a:ext cx="658368" cy="182880"/>
          </a:xfrm>
          <a:prstGeom prst="rect">
            <a:avLst/>
          </a:prstGeom>
          <a:solidFill>
            <a:srgbClr val="B86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5824728" y="3191256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★ NEW</a:t>
            </a:r>
          </a:p>
        </p:txBody>
      </p:sp>
      <p:sp>
        <p:nvSpPr>
          <p:cNvPr id="1046" name="Rectangle 1045"/>
          <p:cNvSpPr/>
          <p:nvPr/>
        </p:nvSpPr>
        <p:spPr>
          <a:xfrm>
            <a:off x="274320" y="4663440"/>
            <a:ext cx="3840480" cy="1874519"/>
          </a:xfrm>
          <a:prstGeom prst="rect">
            <a:avLst/>
          </a:prstGeom>
          <a:solidFill>
            <a:srgbClr val="3D1A08"/>
          </a:solidFill>
          <a:ln w="10160">
            <a:solidFill>
              <a:srgbClr val="7DC4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Rectangle 1046"/>
          <p:cNvSpPr/>
          <p:nvPr/>
        </p:nvSpPr>
        <p:spPr>
          <a:xfrm>
            <a:off x="274320" y="4663440"/>
            <a:ext cx="3840480" cy="27432"/>
          </a:xfrm>
          <a:prstGeom prst="rect">
            <a:avLst/>
          </a:prstGeom>
          <a:solidFill>
            <a:srgbClr val="7D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384048" y="47365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DC47A"/>
                </a:solidFill>
                <a:latin typeface="Calibri"/>
              </a:rPr>
              <a:t>«interface» Researcher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384048" y="5047488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4A882"/>
                </a:solidFill>
                <a:latin typeface="Consolas"/>
              </a:rPr>
              <a:t>getHIndex() · addResearchPaper() · printPapers(Comparator c) ← Strategy · getResearcherName()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384048" y="6172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DC47A"/>
                </a:solidFill>
                <a:latin typeface="Consolas"/>
              </a:rPr>
              <a:t>Student · Teacher · ResearcherEmployee ★</a:t>
            </a:r>
          </a:p>
        </p:txBody>
      </p:sp>
      <p:sp>
        <p:nvSpPr>
          <p:cNvPr id="1051" name="Rectangle 1050"/>
          <p:cNvSpPr/>
          <p:nvPr/>
        </p:nvSpPr>
        <p:spPr>
          <a:xfrm>
            <a:off x="4297680" y="4663440"/>
            <a:ext cx="2468880" cy="1874519"/>
          </a:xfrm>
          <a:prstGeom prst="rect">
            <a:avLst/>
          </a:prstGeom>
          <a:solidFill>
            <a:srgbClr val="3D1A08"/>
          </a:solidFill>
          <a:ln w="10160">
            <a:solidFill>
              <a:srgbClr val="7A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Rectangle 1051"/>
          <p:cNvSpPr/>
          <p:nvPr/>
        </p:nvSpPr>
        <p:spPr>
          <a:xfrm>
            <a:off x="4297680" y="4663440"/>
            <a:ext cx="2468880" cy="27432"/>
          </a:xfrm>
          <a:prstGeom prst="rect">
            <a:avLst/>
          </a:prstGeom>
          <a:solidFill>
            <a:srgbClr val="7A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4407408" y="47365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B8C4"/>
                </a:solidFill>
                <a:latin typeface="Calibri"/>
              </a:rPr>
              <a:t>«interface» Observer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407408" y="5047488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4A882"/>
                </a:solidFill>
                <a:latin typeface="Consolas"/>
              </a:rPr>
              <a:t>update(News news)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4407408" y="6172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AB8C4"/>
                </a:solidFill>
                <a:latin typeface="Consolas"/>
              </a:rPr>
              <a:t>NewsSubscriber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6858000" y="4663440"/>
            <a:ext cx="4846320" cy="1874519"/>
          </a:xfrm>
          <a:prstGeom prst="rect">
            <a:avLst/>
          </a:prstGeom>
          <a:solidFill>
            <a:srgbClr val="3D1A08"/>
          </a:solidFill>
          <a:ln w="10160">
            <a:solidFill>
              <a:srgbClr val="E8A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Rectangle 1056"/>
          <p:cNvSpPr/>
          <p:nvPr/>
        </p:nvSpPr>
        <p:spPr>
          <a:xfrm>
            <a:off x="6858000" y="4663440"/>
            <a:ext cx="4846320" cy="27432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6967728" y="473659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85E"/>
                </a:solidFill>
                <a:latin typeface="Calibri"/>
              </a:rPr>
              <a:t>«subject» News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6967728" y="5047488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4A882"/>
                </a:solidFill>
                <a:latin typeface="Consolas"/>
              </a:rPr>
              <a:t>attach(Observer) · detach(Observer) · notifyObservers()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6967728" y="61722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8A85E"/>
                </a:solidFill>
                <a:latin typeface="Consolas"/>
              </a:rPr>
              <a:t>Called by ManagerService.publishNews()</a:t>
            </a:r>
          </a:p>
        </p:txBody>
      </p:sp>
      <p:sp>
        <p:nvSpPr>
          <p:cNvPr id="1061" name="Rectangle 106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A85E"/>
                </a:solidFill>
                <a:latin typeface="Calibri"/>
              </a:rPr>
              <a:t>Inheritance · Polymorphism · Encapsulation · Abstraction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0A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" name="wave"/>
          <p:cNvSpPr>
            <a:spLocks noGrp="1"/>
          </p:cNvSpPr>
          <p:nvPr/>
        </p:nvSpPr>
        <p:spPr>
          <a:xfrm>
            <a:off x="0" y="0"/>
            <a:ext cx="12188952" cy="822960"/>
          </a:xfrm>
          <a:prstGeom prst="wave">
            <a:avLst>
              <a:gd name="adj1" fmla="val 12500"/>
              <a:gd name="adj2" fmla="val 0"/>
            </a:avLst>
          </a:prstGeom>
          <a:solidFill>
            <a:srgbClr val="2E1206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wave"/>
          <p:cNvSpPr>
            <a:spLocks noGrp="1"/>
          </p:cNvSpPr>
          <p:nvPr/>
        </p:nvSpPr>
        <p:spPr>
          <a:xfrm>
            <a:off x="0" y="5669280"/>
            <a:ext cx="12188952" cy="1371600"/>
          </a:xfrm>
          <a:prstGeom prst="wave">
            <a:avLst>
              <a:gd name="adj1" fmla="val 12500"/>
              <a:gd name="adj2" fmla="val 0"/>
            </a:avLst>
          </a:prstGeom>
          <a:solidFill>
            <a:srgbClr val="3D1A08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00" name="Rectangle 999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D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74320" y="73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DC47A"/>
                </a:solidFill>
                <a:latin typeface="Consolas"/>
              </a:rPr>
              <a:t>03 — FEATURES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74320" y="2743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Works — Full Feature Demo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274320" y="6583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A882"/>
                </a:solidFill>
                <a:latin typeface="Calibri"/>
              </a:rPr>
              <a:t>All core requirements verified via console output</a:t>
            </a:r>
          </a:p>
        </p:txBody>
      </p:sp>
      <p:sp>
        <p:nvSpPr>
          <p:cNvPr id="1005" name="Rectangle 1004"/>
          <p:cNvSpPr/>
          <p:nvPr/>
        </p:nvSpPr>
        <p:spPr>
          <a:xfrm>
            <a:off x="182880" y="1024128"/>
            <a:ext cx="3749039" cy="5486400"/>
          </a:xfrm>
          <a:prstGeom prst="rect">
            <a:avLst/>
          </a:prstGeom>
          <a:solidFill>
            <a:srgbClr val="3D1A08"/>
          </a:solidFill>
          <a:ln w="635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Rectangle 1005"/>
          <p:cNvSpPr/>
          <p:nvPr/>
        </p:nvSpPr>
        <p:spPr>
          <a:xfrm>
            <a:off x="182880" y="1024128"/>
            <a:ext cx="3749039" cy="36576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TextBox 1006"/>
          <p:cNvSpPr txBox="1"/>
          <p:nvPr/>
        </p:nvSpPr>
        <p:spPr>
          <a:xfrm>
            <a:off x="320040" y="10789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A85E"/>
                </a:solidFill>
                <a:latin typeface="Calibri"/>
              </a:rPr>
              <a:t>🎓  ACADEMIC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320040" y="141732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21-credit limit enforced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320040" y="184708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Fail limit max 3</a:t>
            </a:r>
          </a:p>
        </p:txBody>
      </p:sp>
      <p:sp>
        <p:nvSpPr>
          <p:cNvPr id="1010" name="TextBox 1009"/>
          <p:cNvSpPr txBox="1"/>
          <p:nvPr/>
        </p:nvSpPr>
        <p:spPr>
          <a:xfrm>
            <a:off x="320040" y="227685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Course filter: major &amp; year</a:t>
            </a:r>
          </a:p>
        </p:txBody>
      </p:sp>
      <p:sp>
        <p:nvSpPr>
          <p:cNvPr id="1011" name="TextBox 1010"/>
          <p:cNvSpPr txBox="1"/>
          <p:nvPr/>
        </p:nvSpPr>
        <p:spPr>
          <a:xfrm>
            <a:off x="320040" y="2706624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Multiple instructors/course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0040" y="3136391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Mark: att1 + att2 + final</a:t>
            </a:r>
          </a:p>
        </p:txBody>
      </p:sp>
      <p:sp>
        <p:nvSpPr>
          <p:cNvPr id="1013" name="TextBox 1012"/>
          <p:cNvSpPr txBox="1"/>
          <p:nvPr/>
        </p:nvSpPr>
        <p:spPr>
          <a:xfrm>
            <a:off x="320040" y="3566159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Letter grades A → F</a:t>
            </a:r>
          </a:p>
        </p:txBody>
      </p:sp>
      <p:sp>
        <p:nvSpPr>
          <p:cNvPr id="1014" name="TextBox 1013"/>
          <p:cNvSpPr txBox="1"/>
          <p:nvPr/>
        </p:nvSpPr>
        <p:spPr>
          <a:xfrm>
            <a:off x="320040" y="39959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GPA via Transcript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20040" y="442569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Course report (avg/pass/fail)</a:t>
            </a:r>
          </a:p>
        </p:txBody>
      </p:sp>
      <p:sp>
        <p:nvSpPr>
          <p:cNvPr id="1016" name="TextBox 1015"/>
          <p:cNvSpPr txBox="1"/>
          <p:nvPr/>
        </p:nvSpPr>
        <p:spPr>
          <a:xfrm>
            <a:off x="320040" y="4855464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Student views marks &amp; courses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320040" y="5285231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Teacher grades via putMark()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20040" y="5714999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Student rates teacher (1-5)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160520" y="1024128"/>
            <a:ext cx="3749039" cy="5486400"/>
          </a:xfrm>
          <a:prstGeom prst="rect">
            <a:avLst/>
          </a:prstGeom>
          <a:solidFill>
            <a:srgbClr val="3D1A08"/>
          </a:solidFill>
          <a:ln w="635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Rectangle 1019"/>
          <p:cNvSpPr/>
          <p:nvPr/>
        </p:nvSpPr>
        <p:spPr>
          <a:xfrm>
            <a:off x="4160520" y="1024128"/>
            <a:ext cx="3749039" cy="36576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TextBox 1020"/>
          <p:cNvSpPr txBox="1"/>
          <p:nvPr/>
        </p:nvSpPr>
        <p:spPr>
          <a:xfrm>
            <a:off x="4297680" y="10789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944E"/>
                </a:solidFill>
                <a:latin typeface="Calibri"/>
              </a:rPr>
              <a:t>🔬  RESEARCH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4297680" y="141732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Researcher interface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4297680" y="184708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PROFESSOR → always researcher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297680" y="227685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becomeResearcher() opt-in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4297680" y="2706624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ResearcherEmployee ★ NEW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4297680" y="3136391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ResearchPaper: IEEE fields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4297680" y="3566159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Strategy: 3 paper comparators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4297680" y="39959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printAllPapers across all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4297680" y="442569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Top cited: overall/school/year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4297680" y="4855464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4th year supervisor h-index≥3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4297680" y="5285231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InvalidSupervisorException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4297680" y="5714999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NonResearcherJoinException</a:t>
            </a:r>
          </a:p>
        </p:txBody>
      </p:sp>
      <p:sp>
        <p:nvSpPr>
          <p:cNvPr id="1033" name="Rectangle 1032"/>
          <p:cNvSpPr/>
          <p:nvPr/>
        </p:nvSpPr>
        <p:spPr>
          <a:xfrm>
            <a:off x="8138160" y="1024128"/>
            <a:ext cx="3749039" cy="5486400"/>
          </a:xfrm>
          <a:prstGeom prst="rect">
            <a:avLst/>
          </a:prstGeom>
          <a:solidFill>
            <a:srgbClr val="3D1A08"/>
          </a:solidFill>
          <a:ln w="635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Rectangle 1033"/>
          <p:cNvSpPr/>
          <p:nvPr/>
        </p:nvSpPr>
        <p:spPr>
          <a:xfrm>
            <a:off x="8138160" y="1024128"/>
            <a:ext cx="3749039" cy="36576"/>
          </a:xfrm>
          <a:prstGeom prst="rect">
            <a:avLst/>
          </a:prstGeom>
          <a:solidFill>
            <a:srgbClr val="7D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8275320" y="1078992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DC47A"/>
                </a:solidFill>
                <a:latin typeface="Calibri"/>
              </a:rPr>
              <a:t>⚙️  SYSTEM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8275320" y="1417320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Admin: add/remove/update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275320" y="184708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Admin: findById/ByUsername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8275320" y="227685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Admin: sorted views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8275320" y="2706624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Manager: approve/reject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8275320" y="3136391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Manager: assign teachers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8275320" y="3566159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Observer: publishNews()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8275320" y="39959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Student sends messages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8275320" y="4425696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Student submits requests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8275320" y="4855464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DataStore Singleton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8275320" y="5285231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Serialization working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8275320" y="5714999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✓  Login via AuthService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DC47A"/>
                </a:solidFill>
                <a:latin typeface="Calibri"/>
              </a:rPr>
              <a:t>All features verified · zero compilation errors · serialization working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0A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" name="wave"/>
          <p:cNvSpPr>
            <a:spLocks noGrp="1"/>
          </p:cNvSpPr>
          <p:nvPr/>
        </p:nvSpPr>
        <p:spPr>
          <a:xfrm>
            <a:off x="0" y="0"/>
            <a:ext cx="12188952" cy="822960"/>
          </a:xfrm>
          <a:prstGeom prst="wave">
            <a:avLst>
              <a:gd name="adj1" fmla="val 12500"/>
              <a:gd name="adj2" fmla="val 0"/>
            </a:avLst>
          </a:prstGeom>
          <a:solidFill>
            <a:srgbClr val="2E1206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99" name="wave"/>
          <p:cNvSpPr>
            <a:spLocks noGrp="1"/>
          </p:cNvSpPr>
          <p:nvPr/>
        </p:nvSpPr>
        <p:spPr>
          <a:xfrm>
            <a:off x="0" y="5029200"/>
            <a:ext cx="12188952" cy="1828800"/>
          </a:xfrm>
          <a:prstGeom prst="wave">
            <a:avLst>
              <a:gd name="adj1" fmla="val 12500"/>
              <a:gd name="adj2" fmla="val 0"/>
            </a:avLst>
          </a:prstGeom>
          <a:solidFill>
            <a:srgbClr val="3D1A08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00" name="Rectangle 999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74320" y="73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8A85E"/>
                </a:solidFill>
                <a:latin typeface="Consolas"/>
              </a:rPr>
              <a:t>04 — DEMO OUTPUT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743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Console Output &amp; Summary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274320" y="65836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4A882"/>
                </a:solidFill>
                <a:latin typeface="Calibri"/>
              </a:rPr>
              <a:t>Actual output from running java Main — all rules verified</a:t>
            </a:r>
          </a:p>
        </p:txBody>
      </p:sp>
      <p:sp>
        <p:nvSpPr>
          <p:cNvPr id="1005" name="Rectangle 1004"/>
          <p:cNvSpPr/>
          <p:nvPr/>
        </p:nvSpPr>
        <p:spPr>
          <a:xfrm>
            <a:off x="182880" y="1005840"/>
            <a:ext cx="7223760" cy="5532120"/>
          </a:xfrm>
          <a:prstGeom prst="rect">
            <a:avLst/>
          </a:prstGeom>
          <a:solidFill>
            <a:srgbClr val="2E1206"/>
          </a:solidFill>
          <a:ln w="1016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274320" y="1078992"/>
            <a:ext cx="128016" cy="128016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502920" y="10789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731520" y="10789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TextBox 1008"/>
          <p:cNvSpPr txBox="1"/>
          <p:nvPr/>
        </p:nvSpPr>
        <p:spPr>
          <a:xfrm>
            <a:off x="1005840" y="1042415"/>
            <a:ext cx="5943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A3818"/>
                </a:solidFill>
                <a:latin typeface="Consolas"/>
              </a:rPr>
              <a:t>java Main  —  console output</a:t>
            </a:r>
          </a:p>
        </p:txBody>
      </p:sp>
      <p:sp>
        <p:nvSpPr>
          <p:cNvPr id="1010" name="TextBox 1009"/>
          <p:cNvSpPr txBox="1"/>
          <p:nvPr/>
        </p:nvSpPr>
        <p:spPr>
          <a:xfrm>
            <a:off x="274320" y="1325880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8A85E"/>
                </a:solidFill>
                <a:latin typeface="Consolas"/>
              </a:rPr>
              <a:t>===== PROFESSOR ALWAYS RESEARCHER =====</a:t>
            </a:r>
          </a:p>
        </p:txBody>
      </p:sp>
      <p:sp>
        <p:nvSpPr>
          <p:cNvPr id="1011" name="TextBox 1010"/>
          <p:cNvSpPr txBox="1"/>
          <p:nvPr/>
        </p:nvSpPr>
        <p:spPr>
          <a:xfrm>
            <a:off x="274320" y="1527048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t1 (PROFESSOR) isActiveResearcher: true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274320" y="1728216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4A882"/>
                </a:solidFill>
                <a:latin typeface="Consolas"/>
              </a:rPr>
              <a:t>t2 (LECTURER)  isActiveResearcher: false</a:t>
            </a:r>
          </a:p>
        </p:txBody>
      </p:sp>
      <p:sp>
        <p:nvSpPr>
          <p:cNvPr id="1013" name="TextBox 1012"/>
          <p:cNvSpPr txBox="1"/>
          <p:nvPr/>
        </p:nvSpPr>
        <p:spPr>
          <a:xfrm>
            <a:off x="274320" y="1929384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t3 after promotion to PROFESSOR: true</a:t>
            </a:r>
          </a:p>
        </p:txBody>
      </p:sp>
      <p:sp>
        <p:nvSpPr>
          <p:cNvPr id="1014" name="TextBox 1013"/>
          <p:cNvSpPr txBox="1"/>
          <p:nvPr/>
        </p:nvSpPr>
        <p:spPr>
          <a:xfrm>
            <a:off x="274320" y="2130552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4A882"/>
                </a:solidFill>
                <a:latin typeface="Consolas"/>
              </a:rPr>
              <a:t/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274320" y="2331720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8A85E"/>
                </a:solidFill>
                <a:latin typeface="Consolas"/>
              </a:rPr>
              <a:t>===== ACADEMIC SYSTEM =====</a:t>
            </a:r>
          </a:p>
        </p:txBody>
      </p:sp>
      <p:sp>
        <p:nvSpPr>
          <p:cNvPr id="1016" name="TextBox 1015"/>
          <p:cNvSpPr txBox="1"/>
          <p:nvPr/>
        </p:nvSpPr>
        <p:spPr>
          <a:xfrm>
            <a:off x="274320" y="2532888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472B6"/>
                </a:solidFill>
                <a:latin typeface="Consolas"/>
              </a:rPr>
              <a:t>Cannot register: Aliya Serik not in major CS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274320" y="2734056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Dias Tanirbergen graded Nurzhan in OOP: A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274320" y="2935224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4A882"/>
                </a:solidFill>
                <a:latin typeface="Consolas"/>
              </a:rPr>
              <a:t/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274320" y="3136391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8A85E"/>
                </a:solidFill>
                <a:latin typeface="Consolas"/>
              </a:rPr>
              <a:t>===== RESEARCH SYSTEM =====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274320" y="3337560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Top cited overall: Zarina Bekova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274320" y="3538728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Top in FIT: Zarina Bekova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274320" y="3739896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Top in 2025: Aliya Serik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274320" y="3941063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4A882"/>
                </a:solidFill>
                <a:latin typeface="Consolas"/>
              </a:rPr>
              <a:t/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274320" y="4142232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8A85E"/>
                </a:solidFill>
                <a:latin typeface="Consolas"/>
              </a:rPr>
              <a:t>===== 4TH YEAR SUPERVISOR =====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274320" y="4343400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Supervisor assigned: Dias Tanirbergen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274320" y="4544568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472B6"/>
                </a:solidFill>
                <a:latin typeface="Consolas"/>
              </a:rPr>
              <a:t>Error: Supervisor must have h-index &gt;= 3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274320" y="4745736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RE supervisor assigned: Zarina Bekova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274320" y="4946904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4A882"/>
                </a:solidFill>
                <a:latin typeface="Consolas"/>
              </a:rPr>
              <a:t/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274320" y="5148072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8A85E"/>
                </a:solidFill>
                <a:latin typeface="Consolas"/>
              </a:rPr>
              <a:t>===== FINAL SYSTEM =====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274320" y="5349240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Saved successfully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274320" y="5550408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Loaded successfully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274320" y="5751576"/>
            <a:ext cx="7040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DC47A"/>
                </a:solidFill>
                <a:latin typeface="Consolas"/>
              </a:rPr>
              <a:t>Login success: Nurzhan Kalmurat-Updated</a:t>
            </a:r>
          </a:p>
        </p:txBody>
      </p:sp>
      <p:sp>
        <p:nvSpPr>
          <p:cNvPr id="1033" name="Rectangle 1032"/>
          <p:cNvSpPr/>
          <p:nvPr/>
        </p:nvSpPr>
        <p:spPr>
          <a:xfrm>
            <a:off x="7680960" y="1024128"/>
            <a:ext cx="4297680" cy="1261872"/>
          </a:xfrm>
          <a:prstGeom prst="rect">
            <a:avLst/>
          </a:prstGeom>
          <a:solidFill>
            <a:srgbClr val="3D1A08"/>
          </a:solidFill>
          <a:ln w="635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Rectangle 1033"/>
          <p:cNvSpPr/>
          <p:nvPr/>
        </p:nvSpPr>
        <p:spPr>
          <a:xfrm>
            <a:off x="7680960" y="1024128"/>
            <a:ext cx="54864" cy="1261872"/>
          </a:xfrm>
          <a:prstGeom prst="rect">
            <a:avLst/>
          </a:prstGeom>
          <a:solidFill>
            <a:srgbClr val="E8A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7818120" y="113385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85E"/>
                </a:solidFill>
                <a:latin typeface="Calibri"/>
              </a:rPr>
              <a:t>IMPLEMENTED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7818120" y="152704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A882"/>
                </a:solidFill>
                <a:latin typeface="Calibri"/>
              </a:rPr>
              <a:t>22 / 22 requirements
from project checklist</a:t>
            </a:r>
          </a:p>
        </p:txBody>
      </p:sp>
      <p:sp>
        <p:nvSpPr>
          <p:cNvPr id="1037" name="Rectangle 1036"/>
          <p:cNvSpPr/>
          <p:nvPr/>
        </p:nvSpPr>
        <p:spPr>
          <a:xfrm>
            <a:off x="7680960" y="2414016"/>
            <a:ext cx="4297680" cy="1261872"/>
          </a:xfrm>
          <a:prstGeom prst="rect">
            <a:avLst/>
          </a:prstGeom>
          <a:solidFill>
            <a:srgbClr val="3D1A08"/>
          </a:solidFill>
          <a:ln w="635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Rectangle 1037"/>
          <p:cNvSpPr/>
          <p:nvPr/>
        </p:nvSpPr>
        <p:spPr>
          <a:xfrm>
            <a:off x="7680960" y="2414016"/>
            <a:ext cx="54864" cy="1261872"/>
          </a:xfrm>
          <a:prstGeom prst="rect">
            <a:avLst/>
          </a:prstGeom>
          <a:solidFill>
            <a:srgbClr val="D99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7818120" y="252374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944E"/>
                </a:solidFill>
                <a:latin typeface="Calibri"/>
              </a:rPr>
              <a:t>PATTERNS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7818120" y="2916936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A882"/>
                </a:solidFill>
                <a:latin typeface="Calibri"/>
              </a:rPr>
              <a:t>Singleton · Factory
Observer · Strategy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7680960" y="3803904"/>
            <a:ext cx="4297680" cy="1261872"/>
          </a:xfrm>
          <a:prstGeom prst="rect">
            <a:avLst/>
          </a:prstGeom>
          <a:solidFill>
            <a:srgbClr val="3D1A08"/>
          </a:solidFill>
          <a:ln w="635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Rectangle 1041"/>
          <p:cNvSpPr/>
          <p:nvPr/>
        </p:nvSpPr>
        <p:spPr>
          <a:xfrm>
            <a:off x="7680960" y="3803904"/>
            <a:ext cx="54864" cy="1261872"/>
          </a:xfrm>
          <a:prstGeom prst="rect">
            <a:avLst/>
          </a:prstGeom>
          <a:solidFill>
            <a:srgbClr val="7DC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TextBox 1042"/>
          <p:cNvSpPr txBox="1"/>
          <p:nvPr/>
        </p:nvSpPr>
        <p:spPr>
          <a:xfrm>
            <a:off x="7818120" y="391363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DC47A"/>
                </a:solidFill>
                <a:latin typeface="Calibri"/>
              </a:rPr>
              <a:t>OOP PILLARS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7818120" y="4306824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A882"/>
                </a:solidFill>
                <a:latin typeface="Calibri"/>
              </a:rPr>
              <a:t>Inheritance · Polymorphism
Encapsulation · Abstraction</a:t>
            </a:r>
          </a:p>
        </p:txBody>
      </p:sp>
      <p:sp>
        <p:nvSpPr>
          <p:cNvPr id="1045" name="Rectangle 1044"/>
          <p:cNvSpPr/>
          <p:nvPr/>
        </p:nvSpPr>
        <p:spPr>
          <a:xfrm>
            <a:off x="7680960" y="5193792"/>
            <a:ext cx="4297680" cy="1261872"/>
          </a:xfrm>
          <a:prstGeom prst="rect">
            <a:avLst/>
          </a:prstGeom>
          <a:solidFill>
            <a:srgbClr val="3D1A08"/>
          </a:solidFill>
          <a:ln w="6350">
            <a:solidFill>
              <a:srgbClr val="5C28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Rectangle 1045"/>
          <p:cNvSpPr/>
          <p:nvPr/>
        </p:nvSpPr>
        <p:spPr>
          <a:xfrm>
            <a:off x="7680960" y="5193792"/>
            <a:ext cx="54864" cy="1261872"/>
          </a:xfrm>
          <a:prstGeom prst="rect">
            <a:avLst/>
          </a:prstGeom>
          <a:solidFill>
            <a:srgbClr val="7A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7818120" y="5303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B8C4"/>
                </a:solidFill>
                <a:latin typeface="Calibri"/>
              </a:rPr>
              <a:t>DELIVERABLES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7818120" y="5696712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4A882"/>
                </a:solidFill>
                <a:latin typeface="Calibri"/>
              </a:rPr>
              <a:t>Code + HTML Docs
+ Presentation + Report</a:t>
            </a:r>
          </a:p>
        </p:txBody>
      </p:sp>
      <p:sp>
        <p:nvSpPr>
          <p:cNvPr id="1049" name="Rectangle 104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A85E"/>
                </a:solidFill>
                <a:latin typeface="Calibri"/>
              </a:rPr>
              <a:t>University Management System  ·  OOP Group G1  ·  Java SE 21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